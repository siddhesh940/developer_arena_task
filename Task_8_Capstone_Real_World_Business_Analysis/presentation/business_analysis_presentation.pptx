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9C6B5"/>
                </a:solidFill>
              </a:defRPr>
            </a:pPr>
            <a:r>
              <a:t>Real World Business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297680"/>
          </a:xfrm>
          <a:prstGeom prst="rect">
            <a:avLst/>
          </a:prstGeom>
          <a:noFill/>
        </p:spPr>
        <p:txBody>
          <a:bodyPr wrap="square" lIns="164592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Week 8 Capstone | The Developers Arena</a:t>
            </a:r>
          </a:p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A portfolio project connecting sales, customer retention, and property pricing evidence.</a:t>
            </a:r>
          </a:p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Purpose: convert raw business data into measurable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FA9A8"/>
                </a:solidFill>
              </a:defRPr>
            </a:pPr>
            <a:r>
              <a:t>Week 8 Capstone | Real World Business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9C6B5"/>
                </a:solidFill>
              </a:defRPr>
            </a:pPr>
            <a:r>
              <a:t>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297680"/>
          </a:xfrm>
          <a:prstGeom prst="rect">
            <a:avLst/>
          </a:prstGeom>
          <a:noFill/>
        </p:spPr>
        <p:txBody>
          <a:bodyPr wrap="square" lIns="164592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Management needs a clear view of revenue performance, churn risk, and property pricing signals.</a:t>
            </a:r>
          </a:p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The analysis identifies what is happening, where attention is needed, and how to measure improvement.</a:t>
            </a:r>
          </a:p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The datasets are analyzed independently because they have no valid shared key.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FA9A8"/>
                </a:solidFill>
              </a:defRPr>
            </a:pPr>
            <a:r>
              <a:t>Week 8 Capstone | Real World Business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9C6B5"/>
                </a:solidFill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297680"/>
          </a:xfrm>
          <a:prstGeom prst="rect">
            <a:avLst/>
          </a:prstGeom>
          <a:noFill/>
        </p:spPr>
        <p:txBody>
          <a:bodyPr wrap="square" lIns="164592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Validate and prepare three real datasets.</a:t>
            </a:r>
          </a:p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Use EDA, group comparisons, trends, correlation, and regression.</a:t>
            </a:r>
          </a:p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Translate findings into recommendations with owners, timelines, and success metrics.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FA9A8"/>
                </a:solidFill>
              </a:defRPr>
            </a:pPr>
            <a:r>
              <a:t>Week 8 Capstone | Real World Business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9C6B5"/>
                </a:solidFill>
              </a:defRPr>
            </a:pPr>
            <a:r>
              <a:t>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297680"/>
          </a:xfrm>
          <a:prstGeom prst="rect">
            <a:avLst/>
          </a:prstGeom>
          <a:noFill/>
        </p:spPr>
        <p:txBody>
          <a:bodyPr wrap="square" lIns="164592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House prices: 300 properties and 8 fields.</a:t>
            </a:r>
          </a:p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Customer churn: 500 customers and 9 fields.</a:t>
            </a:r>
          </a:p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Sales: 100 transactions and 7 original fields; April is a partial period.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FA9A8"/>
                </a:solidFill>
              </a:defRPr>
            </a:pPr>
            <a:r>
              <a:t>Week 8 Capstone | Real World Business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9C6B5"/>
                </a:solidFill>
              </a:defRPr>
            </a:pPr>
            <a:r>
              <a:t>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297680"/>
          </a:xfrm>
          <a:prstGeom prst="rect">
            <a:avLst/>
          </a:prstGeom>
          <a:noFill/>
        </p:spPr>
        <p:txBody>
          <a:bodyPr wrap="square" lIns="164592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All three datasets had zero missing values and zero duplicate rows.</a:t>
            </a:r>
          </a:p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Sales dates were converted to datetime and monthly fields were derived.</a:t>
            </a:r>
          </a:p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Cleaned copies were saved without overwriting the supplied source 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FA9A8"/>
                </a:solidFill>
              </a:defRPr>
            </a:pPr>
            <a:r>
              <a:t>Week 8 Capstone | Real World Business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9C6B5"/>
                </a:solidFill>
              </a:defRPr>
            </a:pPr>
            <a:r>
              <a:t>Sales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297680"/>
          </a:xfrm>
          <a:prstGeom prst="rect">
            <a:avLst/>
          </a:prstGeom>
          <a:noFill/>
        </p:spPr>
        <p:txBody>
          <a:bodyPr wrap="square" lIns="164592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Revenue totals 12,365,048 across 478 units.</a:t>
            </a:r>
          </a:p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Laptop is the leading product and North is the leading region.</a:t>
            </a:r>
          </a:p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March is the strongest complete month; April should be treated as partial.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FA9A8"/>
                </a:solidFill>
              </a:defRPr>
            </a:pPr>
            <a:r>
              <a:t>Week 8 Capstone | Real World Business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9C6B5"/>
                </a:solidFill>
              </a:defRPr>
            </a:pPr>
            <a:r>
              <a:t>Customer Churn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297680"/>
          </a:xfrm>
          <a:prstGeom prst="rect">
            <a:avLst/>
          </a:prstGeom>
          <a:noFill/>
        </p:spPr>
        <p:txBody>
          <a:bodyPr wrap="square" lIns="164592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Overall churn is 10.60%.</a:t>
            </a:r>
          </a:p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Month-to-month customers show the highest observed churn rate.</a:t>
            </a:r>
          </a:p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Prioritize early retention outreach, but validate impact through controlled KPI tracking.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FA9A8"/>
                </a:solidFill>
              </a:defRPr>
            </a:pPr>
            <a:r>
              <a:t>Week 8 Capstone | Real World Business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9C6B5"/>
                </a:solidFill>
              </a:defRPr>
            </a:pPr>
            <a:r>
              <a:t>Property Price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297680"/>
          </a:xfrm>
          <a:prstGeom prst="rect">
            <a:avLst/>
          </a:prstGeom>
          <a:noFill/>
        </p:spPr>
        <p:txBody>
          <a:bodyPr wrap="square" lIns="164592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City Center has the highest mean property price.</a:t>
            </a:r>
          </a:p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Area-price correlation is 0.796, a strong positive association.</a:t>
            </a:r>
          </a:p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Use area and location in pricing review without claiming causation.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FA9A8"/>
                </a:solidFill>
              </a:defRPr>
            </a:pPr>
            <a:r>
              <a:t>Week 8 Capstone | Real World Business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9C6B5"/>
                </a:solidFill>
              </a:defRPr>
            </a:pPr>
            <a:r>
              <a:t>Key Visual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297680"/>
          </a:xfrm>
          <a:prstGeom prst="rect">
            <a:avLst/>
          </a:prstGeom>
          <a:noFill/>
        </p:spPr>
        <p:txBody>
          <a:bodyPr wrap="square" lIns="164592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Sales charts show product, region, and monthly concentration.</a:t>
            </a:r>
          </a:p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Churn charts compare contract segments and charge distributions.</a:t>
            </a:r>
          </a:p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Property charts show area-price relationships, location differences, and correlations.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FA9A8"/>
                </a:solidFill>
              </a:defRPr>
            </a:pPr>
            <a:r>
              <a:t>Week 8 Capstone | Real World Business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9C6B5"/>
                </a:solidFill>
              </a:defRPr>
            </a:pPr>
            <a:r>
              <a:t>Major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297680"/>
          </a:xfrm>
          <a:prstGeom prst="rect">
            <a:avLst/>
          </a:prstGeom>
          <a:noFill/>
        </p:spPr>
        <p:txBody>
          <a:bodyPr wrap="square" lIns="164592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Laptop and North lead sales performance.</a:t>
            </a:r>
          </a:p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Month-to-month churn is the main retention priority.</a:t>
            </a:r>
          </a:p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City Center and property area are important pricing signals in this sample.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FA9A8"/>
                </a:solidFill>
              </a:defRPr>
            </a:pPr>
            <a:r>
              <a:t>Week 8 Capstone | Real World Business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9C6B5"/>
                </a:solidFill>
              </a:defRPr>
            </a:pPr>
            <a: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297680"/>
          </a:xfrm>
          <a:prstGeom prst="rect">
            <a:avLst/>
          </a:prstGeom>
          <a:noFill/>
        </p:spPr>
        <p:txBody>
          <a:bodyPr wrap="square" lIns="164592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Launch a weekly churn monitoring process with early-tenure outreach.</a:t>
            </a:r>
          </a:p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Protect Laptop availability and review North-region capacity.</a:t>
            </a:r>
          </a:p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Use area and location as inputs to a property pricing review.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FA9A8"/>
                </a:solidFill>
              </a:defRPr>
            </a:pPr>
            <a:r>
              <a:t>Week 8 Capstone | Real World Business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9C6B5"/>
                </a:solidFill>
              </a:defRPr>
            </a:pPr>
            <a: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297680"/>
          </a:xfrm>
          <a:prstGeom prst="rect">
            <a:avLst/>
          </a:prstGeom>
          <a:noFill/>
        </p:spPr>
        <p:txBody>
          <a:bodyPr wrap="square" lIns="164592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0-30 days: define dashboards, segments, and owners.</a:t>
            </a:r>
          </a:p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31-60 days: launch retention tests and review product/region planning.</a:t>
            </a:r>
          </a:p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61-90 days: evaluate pricing accuracy and scale successful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FA9A8"/>
                </a:solidFill>
              </a:defRPr>
            </a:pPr>
            <a:r>
              <a:t>Week 8 Capstone | Real World Business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9C6B5"/>
                </a:solidFill>
              </a:defRPr>
            </a:pPr>
            <a:r>
              <a:t>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297680"/>
          </a:xfrm>
          <a:prstGeom prst="rect">
            <a:avLst/>
          </a:prstGeom>
          <a:noFill/>
        </p:spPr>
        <p:txBody>
          <a:bodyPr wrap="square" lIns="164592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Retention: churn rate, outreach response, and upgrade conversion.</a:t>
            </a:r>
          </a:p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Sales: product revenue, regional revenue, and monthly trend.</a:t>
            </a:r>
          </a:p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Property: pricing error, listing conversion, and location-level performance.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FA9A8"/>
                </a:solidFill>
              </a:defRPr>
            </a:pPr>
            <a:r>
              <a:t>Week 8 Capstone | Real World Business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9C6B5"/>
                </a:solidFill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297680"/>
          </a:xfrm>
          <a:prstGeom prst="rect">
            <a:avLst/>
          </a:prstGeom>
          <a:noFill/>
        </p:spPr>
        <p:txBody>
          <a:bodyPr wrap="square" lIns="164592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The datasets are independent and cannot be joined at customer level.</a:t>
            </a:r>
          </a:p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Sales covers 100 transactions and April ends on day 9.</a:t>
            </a:r>
          </a:p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Observed relationships are not proof of causation; future data and testing are required.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FA9A8"/>
                </a:solidFill>
              </a:defRPr>
            </a:pPr>
            <a:r>
              <a:t>Week 8 Capstone | Real World Business 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9C6B5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297680"/>
          </a:xfrm>
          <a:prstGeom prst="rect">
            <a:avLst/>
          </a:prstGeom>
          <a:noFill/>
        </p:spPr>
        <p:txBody>
          <a:bodyPr wrap="square" lIns="164592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The capstone creates a reproducible path from raw data to action.</a:t>
            </a:r>
          </a:p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It highlights sales concentration, a retention opportunity, and a property pricing signal.</a:t>
            </a:r>
          </a:p>
          <a:p>
            <a:pPr>
              <a:spcAft>
                <a:spcPts val="1400"/>
              </a:spcAft>
              <a:defRPr sz="2100">
                <a:solidFill>
                  <a:srgbClr val="E8F3F0"/>
                </a:solidFill>
              </a:defRPr>
            </a:pPr>
            <a:r>
              <a:t>The implementation plan makes the recommendations measurable and reviewable.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FA9A8"/>
                </a:solidFill>
              </a:defRPr>
            </a:pPr>
            <a:r>
              <a:t>Week 8 Capstone | Real World Business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